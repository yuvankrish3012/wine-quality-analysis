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7" r:id="rId5"/>
    <p:sldId id="259" r:id="rId6"/>
    <p:sldId id="268" r:id="rId7"/>
    <p:sldId id="269" r:id="rId8"/>
    <p:sldId id="260" r:id="rId9"/>
    <p:sldId id="271" r:id="rId10"/>
    <p:sldId id="261" r:id="rId11"/>
    <p:sldId id="270" r:id="rId12"/>
    <p:sldId id="262" r:id="rId13"/>
    <p:sldId id="272" r:id="rId14"/>
    <p:sldId id="263" r:id="rId15"/>
    <p:sldId id="273" r:id="rId16"/>
    <p:sldId id="274" r:id="rId17"/>
    <p:sldId id="264" r:id="rId18"/>
    <p:sldId id="265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E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Wine Quality Analysis: Unveiling the Secrets of Good Wine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A Data-Driven Approach to Understanding Red Wine Characteristics</a:t>
            </a:r>
          </a:p>
          <a:p>
            <a:r>
              <a:rPr lang="en-IN" dirty="0"/>
              <a:t>By ,</a:t>
            </a:r>
            <a:endParaRPr dirty="0"/>
          </a:p>
          <a:p>
            <a:r>
              <a:rPr lang="en-IN" dirty="0"/>
              <a:t>V YUVAN KRISHNAN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Project Overview &amp; Dataset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 dirty="0"/>
          </a:p>
          <a:p>
            <a:pPr>
              <a:defRPr sz="1800"/>
            </a:pPr>
            <a:r>
              <a:rPr dirty="0"/>
              <a:t>Objective: To analyze the physicochemical properties of red wines and understand their impact on quality, ultimately building predictive models.</a:t>
            </a:r>
          </a:p>
          <a:p>
            <a:pPr>
              <a:defRPr sz="1800"/>
            </a:pPr>
            <a:r>
              <a:rPr dirty="0"/>
              <a:t>Dataset: "Wine Quality Dataset" (Red Wine)</a:t>
            </a:r>
          </a:p>
          <a:p>
            <a:pPr lvl="1">
              <a:defRPr sz="1800"/>
            </a:pPr>
            <a:r>
              <a:rPr dirty="0"/>
              <a:t>Shape: 1599 rows, 12 columns</a:t>
            </a:r>
          </a:p>
          <a:p>
            <a:pPr lvl="1">
              <a:defRPr sz="1800"/>
            </a:pPr>
            <a:r>
              <a:rPr dirty="0"/>
              <a:t>Columns: fixed acidity, volatile acidity, citric acid, residual sugar, chlorides, free sulfur dioxide, total sulfur dioxide, density, pH, sulphates, alcohol, quality.</a:t>
            </a:r>
          </a:p>
          <a:p>
            <a:pPr lvl="1">
              <a:defRPr sz="1800"/>
            </a:pPr>
            <a:r>
              <a:rPr dirty="0"/>
              <a:t>Missing Values: No missing values, ensuring data completeness.</a:t>
            </a:r>
          </a:p>
          <a:p>
            <a:pPr lvl="1">
              <a:defRPr sz="1800"/>
            </a:pPr>
            <a:r>
              <a:rPr dirty="0"/>
              <a:t>Data Types: All features are numerical (float64), quality is integer.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Understanding Wine Quality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pPr>
              <a:defRPr sz="1800"/>
            </a:pPr>
            <a:r>
              <a:t>Quality Scores: Range from 3 (lowest) to 8 (highest).</a:t>
            </a:r>
          </a:p>
          <a:p>
            <a:pPr>
              <a:defRPr sz="1800"/>
            </a:pPr>
            <a:r>
              <a:t>Most Frequent Quality: Quality score 5 (681 occurrences) and 6 (638 occurrences) are the most common.</a:t>
            </a:r>
          </a:p>
          <a:p>
            <a:pPr>
              <a:defRPr sz="1800"/>
            </a:pPr>
            <a:r>
              <a:t>Imbalance: Very few wines are rated as excellent (8) or very poor (3), indicating an imbalanced dataset. This might impact model performance for extreme quality levels.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2E429-437B-AE59-DED7-ADFC68A13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DD1D26-7375-1C4F-AC2C-1DD6F2B009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 descr="output 1.png">
            <a:extLst>
              <a:ext uri="{FF2B5EF4-FFF2-40B4-BE49-F238E27FC236}">
                <a16:creationId xmlns:a16="http://schemas.microsoft.com/office/drawing/2014/main" id="{10BA5FB6-0D34-AFBC-0A08-FAA5203CBF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4974" y="0"/>
            <a:ext cx="92189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5326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Key Chemical Properties &amp; Their Impact on Quality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pPr>
              <a:defRPr sz="1800"/>
            </a:pPr>
            <a:r>
              <a:t>Correlation Matrix: Visualizing relationships between all features.</a:t>
            </a:r>
          </a:p>
          <a:p>
            <a:pPr>
              <a:defRPr sz="1800"/>
            </a:pPr>
            <a:r>
              <a:t>Strongest Positive Correlation with Quality:</a:t>
            </a:r>
          </a:p>
          <a:p>
            <a:pPr lvl="1">
              <a:defRPr sz="1800"/>
            </a:pPr>
            <a:r>
              <a:t>alcohol: 0.48 (Higher alcohol content generally correlates with higher quality.)</a:t>
            </a:r>
          </a:p>
          <a:p>
            <a:pPr lvl="1">
              <a:defRPr sz="1800"/>
            </a:pPr>
            <a:r>
              <a:t>sulphates: 0.25 (Moderate positive correlation.)</a:t>
            </a:r>
          </a:p>
          <a:p>
            <a:pPr lvl="1">
              <a:defRPr sz="1800"/>
            </a:pPr>
            <a:r>
              <a:t>citric acid: 0.23 (Moderate positive correlation.)</a:t>
            </a:r>
          </a:p>
          <a:p>
            <a:pPr>
              <a:defRPr sz="1800"/>
            </a:pPr>
            <a:r>
              <a:t>Strongest Negative Correlation with Quality:</a:t>
            </a:r>
          </a:p>
          <a:p>
            <a:pPr lvl="1">
              <a:defRPr sz="1800"/>
            </a:pPr>
            <a:r>
              <a:t>volatile acidity: -0.39 (Higher volatile acidity strongly correlates with lower quality.)</a:t>
            </a:r>
          </a:p>
          <a:p>
            <a:pPr lvl="1">
              <a:defRPr sz="1800"/>
            </a:pPr>
            <a:r>
              <a:t>total sulfur dioxide: -0.19 (Moderate negative correlation.)</a:t>
            </a:r>
          </a:p>
          <a:p>
            <a:pPr lvl="1">
              <a:defRPr sz="1800"/>
            </a:pPr>
            <a:r>
              <a:t>density: -0.17 (Moderate negative correlation.)</a:t>
            </a:r>
          </a:p>
          <a:p>
            <a:pPr>
              <a:defRPr sz="1800"/>
            </a:pPr>
            <a:r>
              <a:t>Weak/Minor Impact: fixed acidity (0.12), residual sugar (0.01), free sulfur dioxide (-0.05), pH (-0.06), chlorides (-0.13) show weaker correlations.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7A9B5-A752-9C9B-D269-287B5D87C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 descr="output 2.png">
            <a:extLst>
              <a:ext uri="{FF2B5EF4-FFF2-40B4-BE49-F238E27FC236}">
                <a16:creationId xmlns:a16="http://schemas.microsoft.com/office/drawing/2014/main" id="{6237F708-AD8B-7555-BF80-239DF4B1A3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5796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8C6D1-9CAF-BC27-C94E-F95F9DF43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09092-172D-D78B-115A-C895BBC2F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73829"/>
            <a:ext cx="9075174" cy="5392442"/>
          </a:xfrm>
        </p:spPr>
        <p:txBody>
          <a:bodyPr/>
          <a:lstStyle/>
          <a:p>
            <a:endParaRPr lang="en-IN"/>
          </a:p>
        </p:txBody>
      </p:sp>
      <p:pic>
        <p:nvPicPr>
          <p:cNvPr id="4" name="Picture 3" descr="output 3.png">
            <a:extLst>
              <a:ext uri="{FF2B5EF4-FFF2-40B4-BE49-F238E27FC236}">
                <a16:creationId xmlns:a16="http://schemas.microsoft.com/office/drawing/2014/main" id="{E32FBB92-E715-5E20-527B-9D8625DBD0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311" y="1600200"/>
            <a:ext cx="8470490" cy="3983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1208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Specific Insights: Residual Sugar &amp; Volatile Acidity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pPr>
              <a:defRPr sz="1800"/>
            </a:pPr>
            <a:r>
              <a:t>Residual Sugar Analysis:</a:t>
            </a:r>
          </a:p>
          <a:p>
            <a:pPr lvl="1">
              <a:defRPr sz="1800"/>
            </a:pPr>
            <a:r>
              <a:t>Average residual sugar for best quality (8): 2.58 g/L</a:t>
            </a:r>
          </a:p>
          <a:p>
            <a:pPr lvl="1">
              <a:defRPr sz="1800"/>
            </a:pPr>
            <a:r>
              <a:t>Average residual sugar for worst quality (3): 2.64 g/L</a:t>
            </a:r>
          </a:p>
          <a:p>
            <a:pPr lvl="1">
              <a:defRPr sz="1800"/>
            </a:pPr>
            <a:r>
              <a:t>Observation: Higher quality wines tend to have slightly more residual sugar, but the difference is minimal and not a strong differentiator.</a:t>
            </a:r>
          </a:p>
          <a:p>
            <a:pPr>
              <a:defRPr sz="1800"/>
            </a:pPr>
            <a:r>
              <a:t>Volatile Acidity Effect:</a:t>
            </a:r>
          </a:p>
          <a:p>
            <a:pPr lvl="1">
              <a:defRPr sz="1800"/>
            </a:pPr>
            <a:r>
              <a:t>Correlation with quality: -0.39 (strong negative).</a:t>
            </a:r>
          </a:p>
          <a:p>
            <a:pPr lvl="1">
              <a:defRPr sz="1800"/>
            </a:pPr>
            <a:r>
              <a:t>Insight: Wines with higher volatile acidity tend to be rated lower in quality. This is a critical factor for winemakers to control.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D5D5D-7EA1-BF7D-69A3-160AF4FFC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 descr="output 4.png">
            <a:extLst>
              <a:ext uri="{FF2B5EF4-FFF2-40B4-BE49-F238E27FC236}">
                <a16:creationId xmlns:a16="http://schemas.microsoft.com/office/drawing/2014/main" id="{DEC47FD4-1C26-0A5D-B900-27C3FF7CDA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890" y="204219"/>
            <a:ext cx="7000568" cy="3021139"/>
          </a:xfrm>
          <a:prstGeom prst="rect">
            <a:avLst/>
          </a:prstGeom>
        </p:spPr>
      </p:pic>
      <p:pic>
        <p:nvPicPr>
          <p:cNvPr id="5" name="Content Placeholder 4" descr="output 5.png">
            <a:extLst>
              <a:ext uri="{FF2B5EF4-FFF2-40B4-BE49-F238E27FC236}">
                <a16:creationId xmlns:a16="http://schemas.microsoft.com/office/drawing/2014/main" id="{D128167B-CB7F-5EA2-B933-E9124DEC44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10381" y="3302793"/>
            <a:ext cx="7723238" cy="3280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8742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Predicting Wine Quality: Model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pPr>
              <a:defRPr sz="1800"/>
            </a:pPr>
            <a:r>
              <a:t>Models Used: Decision Tree Classifier and Random Forest Classifier.</a:t>
            </a:r>
          </a:p>
          <a:p>
            <a:pPr>
              <a:defRPr sz="1800"/>
            </a:pPr>
            <a:r>
              <a:t>Data Preparation: Features scaled using StandardScaler, data split into 80% training and 20% testing.</a:t>
            </a:r>
          </a:p>
          <a:p>
            <a:pPr>
              <a:defRPr sz="1800"/>
            </a:pPr>
            <a:r>
              <a:t>Decision Tree Model Performance:</a:t>
            </a:r>
          </a:p>
          <a:p>
            <a:pPr lvl="1">
              <a:defRPr sz="1800"/>
            </a:pPr>
            <a:r>
              <a:t>Accuracy: 0.5844 (58.44%)</a:t>
            </a:r>
          </a:p>
          <a:p>
            <a:pPr lvl="1">
              <a:defRPr sz="1800"/>
            </a:pPr>
            <a:r>
              <a:t>Struggles with minority classes (quality 3, 4, 8) as seen in the classification report (precision/recall 0.00 for these classes).</a:t>
            </a:r>
          </a:p>
          <a:p>
            <a:pPr>
              <a:defRPr sz="1800"/>
            </a:pPr>
            <a:r>
              <a:t>Random Forest Model Performance:</a:t>
            </a:r>
          </a:p>
          <a:p>
            <a:pPr lvl="1">
              <a:defRPr sz="1800"/>
            </a:pPr>
            <a:r>
              <a:t>Accuracy: 0.5969 (59.69%)</a:t>
            </a:r>
          </a:p>
          <a:p>
            <a:pPr lvl="1">
              <a:defRPr sz="1800"/>
            </a:pPr>
            <a:r>
              <a:t>Outperforms Decision Tree, indicating better generalization. Still struggles with minority classes.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183DA-98FE-1D70-7775-945DAD481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2A961D-B01E-AC15-59DF-5080A6D745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Picture 3" descr="output 6.png">
            <a:extLst>
              <a:ext uri="{FF2B5EF4-FFF2-40B4-BE49-F238E27FC236}">
                <a16:creationId xmlns:a16="http://schemas.microsoft.com/office/drawing/2014/main" id="{97DF18AA-45F7-F8D8-B842-CDFB29E986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205" y="1600199"/>
            <a:ext cx="3546576" cy="3046207"/>
          </a:xfrm>
          <a:prstGeom prst="rect">
            <a:avLst/>
          </a:prstGeom>
        </p:spPr>
      </p:pic>
      <p:pic>
        <p:nvPicPr>
          <p:cNvPr id="5" name="Picture 4" descr="output 7.png">
            <a:extLst>
              <a:ext uri="{FF2B5EF4-FFF2-40B4-BE49-F238E27FC236}">
                <a16:creationId xmlns:a16="http://schemas.microsoft.com/office/drawing/2014/main" id="{21562F01-3D0B-ECE2-F491-263FF7EFC9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2434" y="1357748"/>
            <a:ext cx="4194366" cy="3602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7070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What Matters Most: Feature Importance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pPr>
              <a:defRPr sz="1800"/>
            </a:pPr>
            <a:r>
              <a:t>Based on the Random Forest model, the most important features for predicting wine quality are:</a:t>
            </a:r>
          </a:p>
          <a:p>
            <a:pPr lvl="1">
              <a:defRPr sz="1800"/>
            </a:pPr>
            <a:r>
              <a:t>1. Alcohol: 0.288 (Highest importance)</a:t>
            </a:r>
          </a:p>
          <a:p>
            <a:pPr lvl="1">
              <a:defRPr sz="1800"/>
            </a:pPr>
            <a:r>
              <a:t>2. Sulphates: 0.142</a:t>
            </a:r>
          </a:p>
          <a:p>
            <a:pPr lvl="1">
              <a:defRPr sz="1800"/>
            </a:pPr>
            <a:r>
              <a:t>3. Total Sulfur Dioxide: 0.124</a:t>
            </a:r>
          </a:p>
          <a:p>
            <a:pPr lvl="1">
              <a:defRPr sz="1800"/>
            </a:pPr>
            <a:r>
              <a:t>4. Volatile Acidity: 0.116</a:t>
            </a:r>
          </a:p>
          <a:p>
            <a:pPr>
              <a:defRPr sz="1800"/>
            </a:pPr>
            <a:r>
              <a:t>This reinforces the correlation findings: alcohol and volatile acidity are crucial determinants of wine quality.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28286-E4BF-E2CA-69F7-5EF67C80D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FCF277-35A8-D21D-F6F9-47AC0962B5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149" y="648929"/>
            <a:ext cx="8622890" cy="5604387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4" name="Picture 3" descr="output 8.png">
            <a:extLst>
              <a:ext uri="{FF2B5EF4-FFF2-40B4-BE49-F238E27FC236}">
                <a16:creationId xmlns:a16="http://schemas.microsoft.com/office/drawing/2014/main" id="{5276DEC3-B8EC-33AC-F21D-094D126AB8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5575" y="0"/>
            <a:ext cx="91010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413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Further Visualizations: Unpacking Relationships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pPr>
              <a:defRPr sz="1800"/>
            </a:pPr>
            <a:r>
              <a:t>Pairplot of Top Features by Quality: Shows relationships between alcohol, volatile acidity, sulphates, citric acid, and quality, colored by quality. This helps visualize how these key features vary across different quality levels.</a:t>
            </a:r>
          </a:p>
          <a:p>
            <a:pPr>
              <a:defRPr sz="1800"/>
            </a:pPr>
            <a:r>
              <a:t>Alcohol Distribution by Quality: Violin plot clearly shows that higher quality wines (7 and 8) tend to have a higher median alcohol content and a broader distribution towards higher alcohol percentages.</a:t>
            </a:r>
          </a:p>
          <a:p>
            <a:pPr>
              <a:defRPr sz="1800"/>
            </a:pPr>
            <a:r>
              <a:t>Volatile Acidity Distribution by Quality: Violin plot demonstrates that lower quality wines (3 and 4) generally have higher volatile acidity, with the median and distribution shifting lower as quality increases.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88086-0DE9-C410-847C-734AC363A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 descr="output 9.png">
            <a:extLst>
              <a:ext uri="{FF2B5EF4-FFF2-40B4-BE49-F238E27FC236}">
                <a16:creationId xmlns:a16="http://schemas.microsoft.com/office/drawing/2014/main" id="{7E435995-B845-BE08-E8B3-A9FAC325B3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6814" y="36813"/>
            <a:ext cx="8760542" cy="6727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4669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7063C-18D7-61DC-D545-722F390B0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 descr="output 10.png">
            <a:extLst>
              <a:ext uri="{FF2B5EF4-FFF2-40B4-BE49-F238E27FC236}">
                <a16:creationId xmlns:a16="http://schemas.microsoft.com/office/drawing/2014/main" id="{D287CBF1-1D2D-EECE-5470-DAF3F24CBE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19" y="274638"/>
            <a:ext cx="8888361" cy="2880119"/>
          </a:xfrm>
          <a:prstGeom prst="rect">
            <a:avLst/>
          </a:prstGeom>
        </p:spPr>
      </p:pic>
      <p:pic>
        <p:nvPicPr>
          <p:cNvPr id="5" name="Content Placeholder 4" descr="output 11.png">
            <a:extLst>
              <a:ext uri="{FF2B5EF4-FFF2-40B4-BE49-F238E27FC236}">
                <a16:creationId xmlns:a16="http://schemas.microsoft.com/office/drawing/2014/main" id="{86DDE759-8973-0FDD-1130-12D2703D2B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55639" y="3219928"/>
            <a:ext cx="8760541" cy="344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4147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Key Takeaways &amp; Actionable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pPr>
              <a:defRPr sz="1800"/>
            </a:pPr>
            <a:r>
              <a:t>Winemaking Focus:</a:t>
            </a:r>
          </a:p>
          <a:p>
            <a:pPr lvl="1">
              <a:defRPr sz="1800"/>
            </a:pPr>
            <a:r>
              <a:t>Alcohol Content: Aim for optimal alcohol levels, as it's the strongest positive predictor of quality.</a:t>
            </a:r>
          </a:p>
          <a:p>
            <a:pPr lvl="1">
              <a:defRPr sz="1800"/>
            </a:pPr>
            <a:r>
              <a:t>Volatile Acidity: Strictly control and minimize volatile acidity, as it significantly degrades wine quality.</a:t>
            </a:r>
          </a:p>
          <a:p>
            <a:pPr lvl="1">
              <a:defRPr sz="1800"/>
            </a:pPr>
            <a:r>
              <a:t>Sulphates: Maintain appropriate levels of sulphates, as they contribute positively to quality.</a:t>
            </a:r>
          </a:p>
          <a:p>
            <a:pPr>
              <a:defRPr sz="1800"/>
            </a:pPr>
            <a:r>
              <a:t>Quality Control: Emphasize monitoring and managing these key chemical parameters during the winemaking process.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Future Work &amp; Data Science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 dirty="0"/>
          </a:p>
          <a:p>
            <a:pPr>
              <a:defRPr sz="1800"/>
            </a:pPr>
            <a:r>
              <a:rPr dirty="0"/>
              <a:t>Addressing Imbalance: Consider grouping quality scores into broader categories (e.g., "Low" (3-4), "Medium" (5-6), "High" (7-8)) to improve model performance on extreme quality levels.</a:t>
            </a:r>
          </a:p>
          <a:p>
            <a:pPr>
              <a:defRPr sz="1800"/>
            </a:pPr>
            <a:r>
              <a:rPr dirty="0"/>
              <a:t>Data Collection: Collect more data, especially for wines with very high or very low quality scores, to enhance model robustness.</a:t>
            </a:r>
          </a:p>
          <a:p>
            <a:pPr>
              <a:defRPr sz="1800"/>
            </a:pPr>
            <a:r>
              <a:rPr dirty="0"/>
              <a:t>Advanced Modeling: Explore other machine learning algorithms (e.g., Gradient Boosting, Neural Networks) and ensemble methods for potentially higher accuracy.</a:t>
            </a:r>
          </a:p>
          <a:p>
            <a:pPr>
              <a:defRPr sz="1800"/>
            </a:pPr>
            <a:r>
              <a:rPr dirty="0"/>
              <a:t>Feature Engineering: Investigate creating new features from existing ones (e.g., ratios of acids) that might better capture quality nuances.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908</Words>
  <Application>Microsoft Office PowerPoint</Application>
  <PresentationFormat>On-screen Show (4:3)</PresentationFormat>
  <Paragraphs>74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Wine Quality Analysis: Unveiling the Secrets of Good Wine</vt:lpstr>
      <vt:lpstr>Project Overview &amp; Dataset Introduction</vt:lpstr>
      <vt:lpstr>Understanding Wine Quality Distribution</vt:lpstr>
      <vt:lpstr>PowerPoint Presentation</vt:lpstr>
      <vt:lpstr>Key Chemical Properties &amp; Their Impact on Quality</vt:lpstr>
      <vt:lpstr>PowerPoint Presentation</vt:lpstr>
      <vt:lpstr>PowerPoint Presentation</vt:lpstr>
      <vt:lpstr>Specific Insights: Residual Sugar &amp; Volatile Acidity</vt:lpstr>
      <vt:lpstr>PowerPoint Presentation</vt:lpstr>
      <vt:lpstr>Predicting Wine Quality: Model Comparison</vt:lpstr>
      <vt:lpstr>PowerPoint Presentation</vt:lpstr>
      <vt:lpstr>What Matters Most: Feature Importance</vt:lpstr>
      <vt:lpstr>PowerPoint Presentation</vt:lpstr>
      <vt:lpstr>Further Visualizations: Unpacking Relationships</vt:lpstr>
      <vt:lpstr>PowerPoint Presentation</vt:lpstr>
      <vt:lpstr>PowerPoint Presentation</vt:lpstr>
      <vt:lpstr>Key Takeaways &amp; Actionable Recommendations</vt:lpstr>
      <vt:lpstr>Future Work &amp; Data Science Recommendations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YUVAN KRISHNAN V</cp:lastModifiedBy>
  <cp:revision>3</cp:revision>
  <dcterms:created xsi:type="dcterms:W3CDTF">2013-01-27T09:14:16Z</dcterms:created>
  <dcterms:modified xsi:type="dcterms:W3CDTF">2025-05-21T12:42:41Z</dcterms:modified>
  <cp:category/>
</cp:coreProperties>
</file>